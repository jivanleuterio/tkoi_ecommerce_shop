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845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909560" y="-777240"/>
            <a:ext cx="5120640" cy="4023360"/>
          </a:xfrm>
          <a:prstGeom prst="ellipse">
            <a:avLst/>
          </a:prstGeom>
          <a:solidFill>
            <a:srgbClr val="FF6A16">
              <a:alpha val="95000"/>
            </a:srgbClr>
          </a:solidFill>
          <a:ln w="12700">
            <a:solidFill>
              <a:srgbClr val="FF6A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300000">
            <a:off x="8823960" y="2971800"/>
            <a:ext cx="3886200" cy="4251960"/>
          </a:xfrm>
          <a:prstGeom prst="ellipse">
            <a:avLst/>
          </a:prstGeom>
          <a:solidFill>
            <a:srgbClr val="35D3C2">
              <a:alpha val="82000"/>
            </a:srgbClr>
          </a:solidFill>
          <a:ln w="12700">
            <a:solidFill>
              <a:srgbClr val="35D3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4" name="Image 0" descr="C:\Users\Jivan\Documents\tkoi_shop\assets\images\tko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4360"/>
            <a:ext cx="1572768" cy="987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" y="1874520"/>
            <a:ext cx="6995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Tkoi System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Walkthrough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04672" y="3822192"/>
            <a:ext cx="6629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67085"/>
                </a:solidFill>
              </a:rPr>
              <a:t>Screens, workflows, roles, business rules, and technical architecture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04672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7B8B"/>
                </a:solidFill>
              </a:rPr>
              <a:t>Functional documentation • 26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Users, sellers, and administrators share one platform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changes according to account status, verified phone, and admin permissions.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2880360" cy="3429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7780">
            <a:solidFill>
              <a:srgbClr val="FF6A16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8B8178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1737360" y="2157984"/>
            <a:ext cx="822960" cy="822960"/>
          </a:xfrm>
          <a:prstGeom prst="ellipse">
            <a:avLst/>
          </a:prstGeom>
          <a:solidFill>
            <a:srgbClr val="FF6A16"/>
          </a:solidFill>
          <a:ln w="12700">
            <a:solidFill>
              <a:srgbClr val="FF6A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1737360" y="23225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41832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6A16"/>
                </a:solidFill>
              </a:rPr>
              <a:t>Buyer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87552" y="3703320"/>
            <a:ext cx="2331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172033"/>
                </a:solidFill>
              </a:rPr>
              <a:t>Browse fish, search, save favorites, chat, checkout, track orders, request returns, review purchases, and contact support.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096512" y="1874520"/>
            <a:ext cx="2880360" cy="3429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7780">
            <a:solidFill>
              <a:srgbClr val="087B8B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8B8178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5120640" y="2157984"/>
            <a:ext cx="822960" cy="822960"/>
          </a:xfrm>
          <a:prstGeom prst="ellipse">
            <a:avLst/>
          </a:prstGeom>
          <a:solidFill>
            <a:srgbClr val="087B8B"/>
          </a:solidFill>
          <a:ln w="12700">
            <a:solidFill>
              <a:srgbClr val="087B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5120640" y="23225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25112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87B8B"/>
                </a:solidFill>
              </a:rPr>
              <a:t>Seller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370832" y="3703320"/>
            <a:ext cx="2331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172033"/>
                </a:solidFill>
              </a:rPr>
              <a:t>A verified phone unlocks shop setup, listing management, order fulfillment, earnings, payout accounts, and withdrawals.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7479792" y="1874520"/>
            <a:ext cx="2880360" cy="3429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7780">
            <a:solidFill>
              <a:srgbClr val="172033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8B8178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8503920" y="2157984"/>
            <a:ext cx="822960" cy="822960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8503920" y="23225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08392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2033"/>
                </a:solidFill>
              </a:rPr>
              <a:t>Administrator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754112" y="3703320"/>
            <a:ext cx="2331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172033"/>
                </a:solidFill>
              </a:rPr>
              <a:t>Permission-gated tools cover users, tickets, reports, content, orders, finance, audit logs, and the admin team.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1847088" y="5687568"/>
            <a:ext cx="8549640" cy="987552"/>
          </a:xfrm>
          <a:prstGeom prst="roundRect">
            <a:avLst>
              <a:gd name="adj" fmla="val 7407"/>
            </a:avLst>
          </a:prstGeom>
          <a:solidFill>
            <a:srgbClr val="FFF0E4"/>
          </a:solidFill>
          <a:ln w="12700">
            <a:solidFill>
              <a:srgbClr val="FF6A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2011680" y="5806440"/>
            <a:ext cx="8220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6"/>
                </a:solidFill>
              </a:rPr>
              <a:t>Account controls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11680" y="6071616"/>
            <a:ext cx="8220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Active accounts use the marketplace. Suspended accounts retain limited order and support access. Restricted accounts can appeal.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Sign-in and password recovery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authentication connects the user to the correct buyer, seller, restricted, or admin destination.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22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2421255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Sign in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8211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2" name="Image 1" descr="C:\Users\Jivan\Documents\tkoi_shop\artifacts\tkoi_system_walkthrough\assets\screenshots\24_password_recov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09344"/>
            <a:ext cx="2421255" cy="44988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Password recovery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89320" y="1645920"/>
            <a:ext cx="5285232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sign in with an email address and password.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recovery sends a reset link to the registered email.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authentication gate resolves password recovery events before normal routing.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status and admin role determine the first screen after authentication.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 registration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account supports both buying and selling, while seller access requires an additional phone check.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" y="1508760"/>
            <a:ext cx="2711672" cy="4928616"/>
          </a:xfrm>
          <a:prstGeom prst="roundRect">
            <a:avLst>
              <a:gd name="adj" fmla="val 4047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23_regi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72768"/>
            <a:ext cx="2583656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1627632"/>
            <a:ext cx="69037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 collects the user’s name, username, email, phone number, delivery address, and password.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sends a six-digit email verification code before the account becomes usable.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and field validators provide immediate feedback before submission.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verified phone number is required before creating or managing a fish shop.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60520" y="5138928"/>
            <a:ext cx="6903720" cy="987552"/>
          </a:xfrm>
          <a:prstGeom prst="roundRect">
            <a:avLst>
              <a:gd name="adj" fmla="val 7407"/>
            </a:avLst>
          </a:prstGeom>
          <a:solidFill>
            <a:srgbClr val="E8F7F5"/>
          </a:solidFill>
          <a:ln w="12700">
            <a:solidFill>
              <a:srgbClr val="087B8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325112" y="5257800"/>
            <a:ext cx="6574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B8B"/>
                </a:solidFill>
              </a:rPr>
              <a:t>Related screens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25112" y="5522976"/>
            <a:ext cx="6574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Email verification, phone verification, password reset, and restricted-account appeal are implemented as separate guarded flows.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EXPERIENCE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Marketplace home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home screen brings discovery, search, category browsing, cart access, and the primary navigation into one view.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" y="1508760"/>
            <a:ext cx="2711672" cy="4928616"/>
          </a:xfrm>
          <a:prstGeom prst="roundRect">
            <a:avLst>
              <a:gd name="adj" fmla="val 4047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72768"/>
            <a:ext cx="2583656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1627632"/>
            <a:ext cx="69037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personalized greeting and local-market indicator establish the user context.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and category shortcuts help buyers narrow the catalog quickly.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Featured fish cards show price, ratings, sold count, shop, location, and favorite count.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navigation links Home, Search, Orders, Sell, and Profile.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60520" y="5138928"/>
            <a:ext cx="6903720" cy="987552"/>
          </a:xfrm>
          <a:prstGeom prst="roundRect">
            <a:avLst>
              <a:gd name="adj" fmla="val 7407"/>
            </a:avLst>
          </a:prstGeom>
          <a:solidFill>
            <a:srgbClr val="FFF0E4"/>
          </a:solidFill>
          <a:ln w="12700">
            <a:solidFill>
              <a:srgbClr val="FF6A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325112" y="5257800"/>
            <a:ext cx="6574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6"/>
                </a:solidFill>
              </a:rPr>
              <a:t>Cart access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25112" y="5522976"/>
            <a:ext cx="6574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The bag icon opens the cart from the home, search, and order areas.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EXPERIENCE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Catalog browsing and search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Buyers can scan visual product cards or search by fish name, species, and category.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03_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2421255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Product catalog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8211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2" name="Image 1" descr="C:\Users\Jivan\Documents\tkoi_shop\artifacts\tkoi_system_walkthrough\assets\screenshots\02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09344"/>
            <a:ext cx="2421255" cy="44988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Search and filters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89320" y="1645920"/>
            <a:ext cx="5285232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cards expose availability, stock, price, seller, location, ratings, sales, and favorites.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supports listing name, species, or variety.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chips provide quick filters for koi, goldfish, betta, guppy, and other types.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 states explain the next action instead of leaving a blank screen.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EXPERIENCE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Fish details, seller context, and reviews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listing combines evidence about the fish with the seller identity and buyer feedback.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04_product_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2421255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Listing summary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8211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2" name="Image 1" descr="C:\Users\Jivan\Documents\tkoi_shop\artifacts\tkoi_system_walkthrough\assets\screenshots\05_product_revie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09344"/>
            <a:ext cx="2421255" cy="44988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Seller and reviews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89320" y="1645920"/>
            <a:ext cx="5285232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gallery presents listing photos, name, price, species, category, and availability.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actions include favorite, report, add to cart, and Buy Now when the listing belongs to another seller.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seller panel links to the shop profile and conversation workflow.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filters support all ratings or a selected star score.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EXPERIENCE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Cart, checkout, and payment choices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transaction flow supports shop-level order splitting and both cash and hosted online payment.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1755648"/>
            <a:ext cx="621792" cy="621792"/>
          </a:xfrm>
          <a:prstGeom prst="ellipse">
            <a:avLst/>
          </a:prstGeom>
          <a:solidFill>
            <a:srgbClr val="FF6A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804672" y="19019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</a:rPr>
              <a:t>Cart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01568" y="17373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Adjust quantities or remove items. Stock-safe database functions validate every change.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15568" y="2414016"/>
            <a:ext cx="0" cy="402336"/>
          </a:xfrm>
          <a:prstGeom prst="line">
            <a:avLst/>
          </a:prstGeom>
          <a:noFill/>
          <a:ln w="254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804672" y="2852928"/>
            <a:ext cx="621792" cy="621792"/>
          </a:xfrm>
          <a:prstGeom prst="ellipse">
            <a:avLst/>
          </a:prstGeom>
          <a:solidFill>
            <a:srgbClr val="FF6A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804672" y="299923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2871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</a:rPr>
              <a:t>Checkout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1568" y="28346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Confirm delivery address and review one order group for each seller.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1115568" y="3511296"/>
            <a:ext cx="0" cy="402336"/>
          </a:xfrm>
          <a:prstGeom prst="line">
            <a:avLst/>
          </a:prstGeom>
          <a:noFill/>
          <a:ln w="254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804672" y="3950208"/>
            <a:ext cx="621792" cy="621792"/>
          </a:xfrm>
          <a:prstGeom prst="ellipse">
            <a:avLst/>
          </a:prstGeom>
          <a:solidFill>
            <a:srgbClr val="087B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804672" y="4096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</a:rPr>
              <a:t>Payment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01568" y="39319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Choose Cash on Delivery, GCash, Maya, card, BPI, BDO, UnionBank, or QRPh.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1115568" y="4608576"/>
            <a:ext cx="0" cy="402336"/>
          </a:xfrm>
          <a:prstGeom prst="line">
            <a:avLst/>
          </a:prstGeom>
          <a:noFill/>
          <a:ln w="254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804672" y="5047488"/>
            <a:ext cx="621792" cy="621792"/>
          </a:xfrm>
          <a:prstGeom prst="ellipse">
            <a:avLst/>
          </a:prstGeom>
          <a:solidFill>
            <a:srgbClr val="087B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804672" y="519379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5065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</a:rPr>
              <a:t>Confirmation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01568" y="50292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Pending online orders reserve stock until the verified Xendit result arrives.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1828800" y="5779008"/>
            <a:ext cx="8595360" cy="987552"/>
          </a:xfrm>
          <a:prstGeom prst="roundRect">
            <a:avLst>
              <a:gd name="adj" fmla="val 7407"/>
            </a:avLst>
          </a:prstGeom>
          <a:solidFill>
            <a:srgbClr val="E8F7F5"/>
          </a:solidFill>
          <a:ln w="12700">
            <a:solidFill>
              <a:srgbClr val="087B8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1993392" y="5897880"/>
            <a:ext cx="8266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B8B"/>
                </a:solidFill>
              </a:rPr>
              <a:t>Online-payment safety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993392" y="6163056"/>
            <a:ext cx="8266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The Flutter client never stores the Xendit secret. Supabase Edge Functions create and cancel payment requests, while a verified webhook updates payment status.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EXPERIENCE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 orders and aftercare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tabs separate payment, fulfillment, receipt, review, cancellation, and return stages.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" y="1508760"/>
            <a:ext cx="2711672" cy="4928616"/>
          </a:xfrm>
          <a:prstGeom prst="roundRect">
            <a:avLst>
              <a:gd name="adj" fmla="val 4047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06_buyer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72768"/>
            <a:ext cx="2583656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1627632"/>
            <a:ext cx="69037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 group orders into All, To pay, To ship, To receive, To review, Completed, Cancelled, and Returns.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details show seller, items, payment status, delivery address, and next actions.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completed purchases can open the review composer with a star rating, comment, and photos.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requests follow the configured return window and preserve their review history.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60520" y="5138928"/>
            <a:ext cx="6903720" cy="987552"/>
          </a:xfrm>
          <a:prstGeom prst="roundRect">
            <a:avLst>
              <a:gd name="adj" fmla="val 7407"/>
            </a:avLst>
          </a:prstGeom>
          <a:solidFill>
            <a:srgbClr val="FFF0E4"/>
          </a:solidFill>
          <a:ln w="12700">
            <a:solidFill>
              <a:srgbClr val="FF6A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325112" y="5257800"/>
            <a:ext cx="6574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6"/>
                </a:solidFill>
              </a:rPr>
              <a:t>Current captured state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25112" y="5522976"/>
            <a:ext cx="6574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The signed-in seller account had no buyer-side orders, so the slide shows the implemented empty state and filter 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EXPERIENCE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Profile, favorites, messages, and account tools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profile area acts as the account hub for saved products, conversations, security, support, and personal details.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18_profile_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2421255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Profile tools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8211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2" name="Image 1" descr="C:\Users\Jivan\Documents\tkoi_shop\artifacts\tkoi_system_walkthrough\assets\screenshots\21_favori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09344"/>
            <a:ext cx="2421255" cy="44988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Saved fish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89320" y="1645920"/>
            <a:ext cx="5285232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Orders, Messages, and My Favorites provide quick access to frequent activities.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security reports email and phone verification state.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Profile updates identity, contact, delivery information, and the profile image.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supports buyer and seller conversations linked to a product or order context.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EXPERIENCE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Profile identity and verification status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account profile displays the user identity and verified seller eligibility.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" y="1508760"/>
            <a:ext cx="2711672" cy="4928616"/>
          </a:xfrm>
          <a:prstGeom prst="roundRect">
            <a:avLst>
              <a:gd name="adj" fmla="val 4047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17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72768"/>
            <a:ext cx="2583656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1627632"/>
            <a:ext cx="69037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profile header displays the avatar, full name, and username.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details include email, mobile verification status, and delivery address.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verification controls whether the Sell area is available.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details shown here belong to a local demonstration account.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60520" y="5138928"/>
            <a:ext cx="6903720" cy="987552"/>
          </a:xfrm>
          <a:prstGeom prst="roundRect">
            <a:avLst>
              <a:gd name="adj" fmla="val 7407"/>
            </a:avLst>
          </a:prstGeom>
          <a:solidFill>
            <a:srgbClr val="FFF0E4"/>
          </a:solidFill>
          <a:ln w="12700">
            <a:solidFill>
              <a:srgbClr val="FF6A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325112" y="5257800"/>
            <a:ext cx="6574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6"/>
                </a:solidFill>
              </a:rPr>
              <a:t>Privacy note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25112" y="5522976"/>
            <a:ext cx="6574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Mask or replace contact details before distributing this deck outside the project team.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 center and ticket submission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create categorized support cases for marketplace issues, account help, or appeals.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19_help_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2421255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Ticket list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8211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2" name="Image 1" descr="C:\Users\Jivan\Documents\tkoi_shop\artifacts\tkoi_system_walkthrough\assets\screenshots\20_create_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09344"/>
            <a:ext cx="2421255" cy="44988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New ticket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89320" y="1645920"/>
            <a:ext cx="5285232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support center lists existing tickets and their current status.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ticket records category, subject, and a detailed message.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users can open an appeal with the category and subject preselected.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Administrators can assign, prioritize, reply to, and close support cases.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WORKSPACE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 dashboard and shop performance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sellers manage their shop, financial summary, product performance, and daily actions from one workspace.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" y="1508760"/>
            <a:ext cx="2711672" cy="4928616"/>
          </a:xfrm>
          <a:prstGeom prst="roundRect">
            <a:avLst>
              <a:gd name="adj" fmla="val 4047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07_sell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72768"/>
            <a:ext cx="2583656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1627632"/>
            <a:ext cx="69037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controls open the public shop or edit seller information.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summarize available, pending, earned, and withdrawn amounts.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 count products, stock, sales, ratings, views, and favorites.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actions connect the dashboard to new listings and seller order management.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60520" y="5138928"/>
            <a:ext cx="6903720" cy="987552"/>
          </a:xfrm>
          <a:prstGeom prst="roundRect">
            <a:avLst>
              <a:gd name="adj" fmla="val 7407"/>
            </a:avLst>
          </a:prstGeom>
          <a:solidFill>
            <a:srgbClr val="E8F7F5"/>
          </a:solidFill>
          <a:ln w="12700">
            <a:solidFill>
              <a:srgbClr val="087B8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325112" y="5257800"/>
            <a:ext cx="6574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B8B"/>
                </a:solidFill>
              </a:rPr>
              <a:t>Shop requirement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25112" y="5522976"/>
            <a:ext cx="6574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A verified account can create one shop. Existing shop owners enter this dashboard directly.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WORKSPACE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 inventory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listing remains editable and exposes its operational status directly in the product list.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" y="1508760"/>
            <a:ext cx="2711672" cy="4928616"/>
          </a:xfrm>
          <a:prstGeom prst="roundRect">
            <a:avLst>
              <a:gd name="adj" fmla="val 4047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08_seller_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72768"/>
            <a:ext cx="2583656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1627632"/>
            <a:ext cx="69037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rows show the product photo, price, stock, sales, favorites, rating, and status.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status control switches a listing among Available, Sold out, and Hidden.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overflow menu opens listing edit and management actions.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fish starts a validated listing form with image requirements.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60520" y="5138928"/>
            <a:ext cx="6903720" cy="987552"/>
          </a:xfrm>
          <a:prstGeom prst="roundRect">
            <a:avLst>
              <a:gd name="adj" fmla="val 7407"/>
            </a:avLst>
          </a:prstGeom>
          <a:solidFill>
            <a:srgbClr val="FFF0E4"/>
          </a:solidFill>
          <a:ln w="12700">
            <a:solidFill>
              <a:srgbClr val="FF6A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325112" y="5257800"/>
            <a:ext cx="6574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6"/>
                </a:solidFill>
              </a:rPr>
              <a:t>Stock visibility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25112" y="5522976"/>
            <a:ext cx="6574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Sold-out products remain visible to the seller while buyer availability follows the listing status and quantity.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WORKSPACE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Fish listing creation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listing form captures product identity, condition, inventory, location, availability, and visual evidence.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09_add_l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2421255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Listing identity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8211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2" name="Image 1" descr="C:\Users\Jivan\Documents\tkoi_shop\artifacts\tkoi_system_walkthrough\assets\screenshots\10_listing_fiel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09344"/>
            <a:ext cx="2421255" cy="44988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Inventory and images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89320" y="1645920"/>
            <a:ext cx="5285232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details include fish name, species, category, description, price, and quantity.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attributes record size, age, and sex.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condition and seller location help buyers evaluate suitability and delivery distance.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one fish image is required before the listing can be saved.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WORKSPACE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 order queue and order evidence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Sellers can filter orders, inspect buyer and item details, and manage fulfillment from a single queue.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11_seller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2421255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Seller order queue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8211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2" name="Image 1" descr="C:\Users\Jivan\Documents\tkoi_shop\artifacts\tkoi_system_walkthrough\assets\screenshots\12_seller_order_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09344"/>
            <a:ext cx="2421255" cy="44988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Order details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89320" y="1645920"/>
            <a:ext cx="5285232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Tabs filter orders by pending, to ship, shipping, completed, cancelled, and return status.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order card shows buyer, date, items, payment method, total, and current status.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detail screen displays item quantities, order total, payment, and delivery information.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Xendit orders follow stricter cancellation rules because automated refunds are not included.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WORKSPACE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fulfillment controls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next-action section advances the order while preserving a separate cancellation path.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" y="1508760"/>
            <a:ext cx="2711672" cy="4928616"/>
          </a:xfrm>
          <a:prstGeom prst="roundRect">
            <a:avLst>
              <a:gd name="adj" fmla="val 4047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13_order_fulfill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72768"/>
            <a:ext cx="2583656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1627632"/>
            <a:ext cx="69037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Cash on Delivery orders can move to Confirmed or be cancelled.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stages support shipping updates, delivery confirmation, and completion.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requests appear inside the seller order workflow with their reason and status.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changes are backed by database rules that protect inventory and payment state.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60520" y="5138928"/>
            <a:ext cx="6903720" cy="987552"/>
          </a:xfrm>
          <a:prstGeom prst="roundRect">
            <a:avLst>
              <a:gd name="adj" fmla="val 7407"/>
            </a:avLst>
          </a:prstGeom>
          <a:solidFill>
            <a:srgbClr val="E8F7F5"/>
          </a:solidFill>
          <a:ln w="12700">
            <a:solidFill>
              <a:srgbClr val="087B8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325112" y="5257800"/>
            <a:ext cx="6574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B8B"/>
                </a:solidFill>
              </a:rPr>
              <a:t>Documentation capture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25112" y="5522976"/>
            <a:ext cx="6574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No order status was changed while collecting screenshots.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 earnings wallet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wallet separates money that can be withdrawn from pending escrow, lifetime earnings, and completed withdrawals.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" y="1508760"/>
            <a:ext cx="2711672" cy="4928616"/>
          </a:xfrm>
          <a:prstGeom prst="roundRect">
            <a:avLst>
              <a:gd name="adj" fmla="val 4047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14_earnings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72768"/>
            <a:ext cx="2583656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0" y="1627632"/>
            <a:ext cx="69037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balance includes released earnings from eligible online payments.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escrow tracks money awaiting release.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transaction ledger filters earnings, platform fees, and withdrawals.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on Delivery revenue appears in sales analytics because payment goes directly to the seller.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60520" y="5138928"/>
            <a:ext cx="6903720" cy="987552"/>
          </a:xfrm>
          <a:prstGeom prst="roundRect">
            <a:avLst>
              <a:gd name="adj" fmla="val 7407"/>
            </a:avLst>
          </a:prstGeom>
          <a:solidFill>
            <a:srgbClr val="FFF0E4"/>
          </a:solidFill>
          <a:ln w="12700">
            <a:solidFill>
              <a:srgbClr val="FF6A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325112" y="5257800"/>
            <a:ext cx="6574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6"/>
                </a:solidFill>
              </a:rPr>
              <a:t>Wallet boundary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25112" y="5522976"/>
            <a:ext cx="6574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Only Xendit-paid orders enter the in-app seller wallet.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Payout accounts and withdrawals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Sellers choose a saved payout destination and submit an amount against their available balance.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0" descr="C:\Users\Jivan\Documents\tkoi_shop\artifacts\tkoi_system_walkthrough\assets\screenshots\15_payout_ac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2421255" cy="4498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Payout destinations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82112" y="1545336"/>
            <a:ext cx="2549271" cy="4626864"/>
          </a:xfrm>
          <a:prstGeom prst="roundRect">
            <a:avLst>
              <a:gd name="adj" fmla="val 4304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6D6258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2" name="Image 1" descr="C:\Users\Jivan\Documents\tkoi_shop\artifacts\tkoi_system_walkthrough\assets\screenshots\16_withdraw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09344"/>
            <a:ext cx="2421255" cy="44988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6217920"/>
            <a:ext cx="2457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Withdrawal request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89320" y="1645920"/>
            <a:ext cx="5285232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accounts show the provider, account holder, and masked destination number.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withdrawal form validates the minimum amount and available balance.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Withdrawal history records status and allows eligible pending requests to be cancelled.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captured environment uses demo withdrawals and does not transmit real funds.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Permission-gated admin console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admin shell reveals only the sections allowed by the signed-in role.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737360"/>
            <a:ext cx="33649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6A16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914400" y="18653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A16"/>
                </a:solidFill>
              </a:rPr>
              <a:t>Dashboard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1671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2033"/>
                </a:solidFill>
              </a:rPr>
              <a:t>Marketplace metrics, operational queues, and sales trend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4544568" y="1737360"/>
            <a:ext cx="33649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6A16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4709160" y="18653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A16"/>
                </a:solidFill>
              </a:rPr>
              <a:t>Users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21671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2033"/>
                </a:solidFill>
              </a:rPr>
              <a:t>Search accounts, inspect history, suspend, ban, or reactivate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339328" y="1737360"/>
            <a:ext cx="33649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6A16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8503920" y="18653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A16"/>
                </a:solidFill>
              </a:rPr>
              <a:t>Support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21671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2033"/>
                </a:solidFill>
              </a:rPr>
              <a:t>Assign, prioritize, reply to, and close tickets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49808" y="3154680"/>
            <a:ext cx="33649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087B8B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914400" y="32826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B8B"/>
                </a:solidFill>
              </a:rPr>
              <a:t>Reports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35844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2033"/>
                </a:solidFill>
              </a:rPr>
              <a:t>Review user reports and record resolutions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4544568" y="3154680"/>
            <a:ext cx="33649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087B8B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4709160" y="32826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B8B"/>
                </a:solidFill>
              </a:rPr>
              <a:t>Content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09160" y="35844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2033"/>
                </a:solidFill>
              </a:rPr>
              <a:t>Moderate products, shops, reviews, and profile content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8339328" y="3154680"/>
            <a:ext cx="33649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087B8B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8503920" y="32826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B8B"/>
                </a:solidFill>
              </a:rPr>
              <a:t>Orders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03920" y="35844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2033"/>
                </a:solidFill>
              </a:rPr>
              <a:t>Search orders and inspect protected delivery details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749808" y="4572000"/>
            <a:ext cx="33649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087B8B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914400" y="47000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B8B"/>
                </a:solidFill>
              </a:rPr>
              <a:t>Finance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4400" y="50017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2033"/>
                </a:solidFill>
              </a:rPr>
              <a:t>Withdrawals, returns, wallets, fees, and settings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4544568" y="4572000"/>
            <a:ext cx="33649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087B8B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4709160" y="47000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B8B"/>
                </a:solidFill>
              </a:rPr>
              <a:t>Audit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709160" y="50017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2033"/>
                </a:solidFill>
              </a:rPr>
              <a:t>Search administrative actions and actor history</a:t>
            </a: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8339328" y="4572000"/>
            <a:ext cx="33649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087B8B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Text 31"/>
          <p:cNvSpPr/>
          <p:nvPr/>
        </p:nvSpPr>
        <p:spPr>
          <a:xfrm>
            <a:off x="8503920" y="47000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B8B"/>
                </a:solidFill>
              </a:rPr>
              <a:t>Team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503920" y="50017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72033"/>
                </a:solidFill>
              </a:rPr>
              <a:t>Review role membership and permission coverage</a:t>
            </a:r>
            <a:endParaRPr lang="en-US" sz="12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 and content moderation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Administrative actions require explicit permissions and produce an auditable history.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1664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FF6A16"/>
                </a:solidFill>
              </a:rPr>
              <a:t>USER ACCOUNTS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1993392"/>
            <a:ext cx="50749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and filter active, suspended, or banned accounts.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masked identity, order count, shop data, and moderation history.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protected contact details through an audited action.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Suspend for a period, ban indefinitely, or reactivate an account.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783080"/>
            <a:ext cx="0" cy="4160520"/>
          </a:xfrm>
          <a:prstGeom prst="line">
            <a:avLst/>
          </a:prstGeom>
          <a:noFill/>
          <a:ln w="1905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355080" y="1664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087B8B"/>
                </a:solidFill>
              </a:rPr>
              <a:t>CONTENT AND REPORTS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1993392"/>
            <a:ext cx="498348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reported products, shops, reviews, and profile content.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 moderation reason and resolution.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or restore content according to the moderator permission set.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privileged admin accounts from unsafe account actions.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901952" y="5669280"/>
            <a:ext cx="8458200" cy="987552"/>
          </a:xfrm>
          <a:prstGeom prst="roundRect">
            <a:avLst>
              <a:gd name="adj" fmla="val 7407"/>
            </a:avLst>
          </a:prstGeom>
          <a:solidFill>
            <a:srgbClr val="E8F7F5"/>
          </a:solidFill>
          <a:ln w="12700">
            <a:solidFill>
              <a:srgbClr val="087B8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2066544" y="5788152"/>
            <a:ext cx="8129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B8B"/>
                </a:solidFill>
              </a:rPr>
              <a:t>Public reasons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6053328"/>
            <a:ext cx="8129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User-facing restriction text stays separate from internal administrative notes.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Support, finance, audit, and team operations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modules connect customer cases with financial controls and role accountability.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755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7B8B"/>
                </a:solidFill>
              </a:rPr>
              <a:t>Support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31720" y="1664208"/>
            <a:ext cx="8732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Status, priority, assignment, internal notes, customer replies, and case-linked conversations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4672" y="2322576"/>
            <a:ext cx="10195560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804672" y="2651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A16"/>
                </a:solidFill>
              </a:rPr>
              <a:t>Finance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31720" y="2560320"/>
            <a:ext cx="8732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Withdrawal queue, return decisions, seller wallets, ledger inspection, platform fee, and return-window settings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3218688"/>
            <a:ext cx="10195560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804672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7B8B"/>
                </a:solidFill>
              </a:rPr>
              <a:t>Orders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31720" y="3456432"/>
            <a:ext cx="8732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Marketplace-wide order search, detail inspection, and audited address reveal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4672" y="4114800"/>
            <a:ext cx="10195560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804672" y="4443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A16"/>
                </a:solidFill>
              </a:rPr>
              <a:t>Audit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31720" y="4352544"/>
            <a:ext cx="8732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Searchable record of privileged actions, actors, targets, reasons, and timestamps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4672" y="5010912"/>
            <a:ext cx="10195560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804672" y="53400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7B8B"/>
                </a:solidFill>
              </a:rPr>
              <a:t>Team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31720" y="5248656"/>
            <a:ext cx="8732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33"/>
                </a:solidFill>
              </a:rPr>
              <a:t>Admin role membership and effective permission review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4672" y="5907024"/>
            <a:ext cx="10195560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1682496" y="5897880"/>
            <a:ext cx="8823960" cy="987552"/>
          </a:xfrm>
          <a:prstGeom prst="roundRect">
            <a:avLst>
              <a:gd name="adj" fmla="val 7407"/>
            </a:avLst>
          </a:prstGeom>
          <a:solidFill>
            <a:srgbClr val="FFF0E4"/>
          </a:solidFill>
          <a:ln w="12700">
            <a:solidFill>
              <a:srgbClr val="FF6A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1847088" y="6016752"/>
            <a:ext cx="8494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6"/>
                </a:solidFill>
              </a:rPr>
              <a:t>Role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47088" y="6281928"/>
            <a:ext cx="8494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The super admin has full access. Other administrative roles receive only the permissions required for their responsibilities.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DESIGN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architecture and integrations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provides the user interface while Supabase and Xendit handle identity, data, storage, and online payments.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2240280"/>
            <a:ext cx="224028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7780">
            <a:solidFill>
              <a:srgbClr val="FF6A1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841248" y="235000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A16"/>
                </a:solidFill>
              </a:rPr>
              <a:t>Flutter app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2104" y="2624328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</a:rPr>
              <a:t>Buyer, seller, admin, authentication, validation, and navigation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24028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7780">
            <a:solidFill>
              <a:srgbClr val="087B8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3557016" y="170992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7B8B"/>
                </a:solidFill>
              </a:rPr>
              <a:t>Supabase Auth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47872" y="1984248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</a:rPr>
              <a:t>Email sessions, verification, password recovery, and phone verification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29000" y="2926080"/>
            <a:ext cx="224028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7780">
            <a:solidFill>
              <a:srgbClr val="087B8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3557016" y="303580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7B8B"/>
                </a:solidFill>
              </a:rPr>
              <a:t>Postgres + RLS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47872" y="3310128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</a:rPr>
              <a:t>Profiles, shops, products, carts, orders, reviews, chat, wallets, and admin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29000" y="4251960"/>
            <a:ext cx="224028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7780">
            <a:solidFill>
              <a:srgbClr val="087B8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3557016" y="436168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7B8B"/>
                </a:solidFill>
              </a:rPr>
              <a:t>Storage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47872" y="4636008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</a:rPr>
              <a:t>Profile photos, shop logos, product images, and review media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2240280"/>
            <a:ext cx="224028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7780">
            <a:solidFill>
              <a:srgbClr val="17203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6300216" y="235000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Edge Functions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91072" y="2624328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</a:rPr>
              <a:t>Create, cancel, simulate, and reconcile Xendit payment requests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15400" y="2240280"/>
            <a:ext cx="224028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7780">
            <a:solidFill>
              <a:srgbClr val="FF6A1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9043416" y="2350008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A16"/>
                </a:solidFill>
              </a:rPr>
              <a:t>Xendit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34272" y="2624328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</a:rPr>
              <a:t>Hosted test checkout, payment channels, simulation API, and verified webhooks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53512" y="2697480"/>
            <a:ext cx="420624" cy="256032"/>
          </a:xfrm>
          <a:prstGeom prst="chevron">
            <a:avLst/>
          </a:prstGeom>
          <a:solidFill>
            <a:srgbClr val="E8DED4"/>
          </a:solidFill>
          <a:ln w="12700">
            <a:solidFill>
              <a:srgbClr val="E8DE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Shape 25"/>
          <p:cNvSpPr/>
          <p:nvPr/>
        </p:nvSpPr>
        <p:spPr>
          <a:xfrm>
            <a:off x="5669280" y="2697480"/>
            <a:ext cx="438912" cy="256032"/>
          </a:xfrm>
          <a:prstGeom prst="chevron">
            <a:avLst/>
          </a:prstGeom>
          <a:solidFill>
            <a:srgbClr val="E8DED4"/>
          </a:solidFill>
          <a:ln w="12700">
            <a:solidFill>
              <a:srgbClr val="E8DE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Shape 26"/>
          <p:cNvSpPr/>
          <p:nvPr/>
        </p:nvSpPr>
        <p:spPr>
          <a:xfrm>
            <a:off x="8412480" y="2697480"/>
            <a:ext cx="438912" cy="256032"/>
          </a:xfrm>
          <a:prstGeom prst="chevron">
            <a:avLst/>
          </a:prstGeom>
          <a:solidFill>
            <a:srgbClr val="E8DED4"/>
          </a:solidFill>
          <a:ln w="12700">
            <a:solidFill>
              <a:srgbClr val="E8DE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1828800" y="5715000"/>
            <a:ext cx="8549640" cy="987552"/>
          </a:xfrm>
          <a:prstGeom prst="roundRect">
            <a:avLst>
              <a:gd name="adj" fmla="val 7407"/>
            </a:avLst>
          </a:prstGeom>
          <a:solidFill>
            <a:srgbClr val="E8F7F5"/>
          </a:solidFill>
          <a:ln w="12700">
            <a:solidFill>
              <a:srgbClr val="087B8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1993392" y="5833872"/>
            <a:ext cx="8220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B8B"/>
                </a:solidFill>
              </a:rPr>
              <a:t>Server-side secrets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93392" y="6099048"/>
            <a:ext cx="8220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Xendit secret keys and webhook tokens stay in Supabase Edge Function secrets. The Flutter client uses only public Supabase configuration.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DESIGN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rules and safeguards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constraints and role checks support safe marketplace behavior.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A16"/>
                </a:solidFill>
              </a:rPr>
              <a:t>Ordering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50008" y="171907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33"/>
                </a:solidFill>
              </a:rPr>
              <a:t>Cart checkout splits mixed-shop items into one order per seller. Stock is locked, rechecked, and reduced atomically.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77240" y="2596896"/>
            <a:ext cx="528523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428232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7B8B"/>
                </a:solidFill>
              </a:rPr>
              <a:t>Seller policy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01000" y="171907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33"/>
                </a:solidFill>
              </a:rPr>
              <a:t>Users cannot buy their own listings. Selling requires a verified phone and one shop per account.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428232" y="2596896"/>
            <a:ext cx="528523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777240" y="30815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A16"/>
                </a:solidFill>
              </a:rPr>
              <a:t>Payments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50008" y="30632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33"/>
                </a:solidFill>
              </a:rPr>
              <a:t>Pending online orders reserve stock. Failure, cancellation, or expiry restores that stock.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777240" y="3941064"/>
            <a:ext cx="528523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6428232" y="30815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7B8B"/>
                </a:solidFill>
              </a:rPr>
              <a:t>Access control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01000" y="30632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33"/>
                </a:solidFill>
              </a:rPr>
              <a:t>Row Level Security limits records by ownership, participant, and administrative permission.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6428232" y="3941064"/>
            <a:ext cx="528523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777240" y="44256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A16"/>
                </a:solidFill>
              </a:rPr>
              <a:t>Moderation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50008" y="44074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33"/>
                </a:solidFill>
              </a:rPr>
              <a:t>Account restrictions preserve eligible order and support access while blocking normal marketplace activity.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777240" y="5285232"/>
            <a:ext cx="528523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6428232" y="44256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7B8B"/>
                </a:solidFill>
              </a:rPr>
              <a:t>Auditability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01000" y="44074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33"/>
                </a:solidFill>
              </a:rPr>
              <a:t>Protected contact and address reveals are explicit administrative actions recorded in the audit trail.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6428232" y="5285232"/>
            <a:ext cx="528523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Shape 24"/>
          <p:cNvSpPr/>
          <p:nvPr/>
        </p:nvSpPr>
        <p:spPr>
          <a:xfrm>
            <a:off x="1828800" y="5852160"/>
            <a:ext cx="8549640" cy="987552"/>
          </a:xfrm>
          <a:prstGeom prst="roundRect">
            <a:avLst>
              <a:gd name="adj" fmla="val 7407"/>
            </a:avLst>
          </a:prstGeom>
          <a:solidFill>
            <a:srgbClr val="FFF0E4"/>
          </a:solidFill>
          <a:ln w="12700">
            <a:solidFill>
              <a:srgbClr val="FF6A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1993392" y="5971032"/>
            <a:ext cx="8220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6"/>
                </a:solidFill>
              </a:rPr>
              <a:t>Testing and demo modes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93392" y="6236208"/>
            <a:ext cx="8220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The repository includes widget tests, SQL integration tests, seeded seller data, a demo admin, and a payment simulator that rejects live Xendit keys.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coverage index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screens and major capabilities covered by this walkthrough.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26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627632"/>
          <a:ext cx="10652760" cy="452628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Screens and functions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Authentication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Splash, sign in, register, email verification, forgot/reset password, phone verification, restricted account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Buyer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Home, search, product details, shop details, favorites, cart, checkout, payment method, orders, returns, reviews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Communication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Chat inbox, conversation, product/order context, support ticket list, ticket detail, ticket creation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Shop setup/edit, dashboard, listings, product form, orders, order details, earnings, payout accounts, withdrawals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Administration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Dashboard, users, account details, tickets, reports, content, orders, finance, audit, team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Integrations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Supabase Auth, Postgres/RLS, Storage, Edge Functions, Xendit hosted payment and webhook handling</a:t>
                      </a:r>
                      <a:endParaRPr lang="en-US" sz="13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012680" y="-502920"/>
            <a:ext cx="2834640" cy="2011680"/>
          </a:xfrm>
          <a:prstGeom prst="ellipse">
            <a:avLst/>
          </a:prstGeom>
          <a:solidFill>
            <a:srgbClr val="FFF0E4">
              <a:alpha val="75000"/>
            </a:srgbClr>
          </a:solidFill>
          <a:ln w="12700">
            <a:solidFill>
              <a:srgbClr val="FFF0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600000">
            <a:off x="-502920" y="5285232"/>
            <a:ext cx="2286000" cy="1965960"/>
          </a:xfrm>
          <a:prstGeom prst="ellipse">
            <a:avLst/>
          </a:prstGeom>
          <a:solidFill>
            <a:srgbClr val="E8F7F5">
              <a:alpha val="82000"/>
            </a:srgbClr>
          </a:solidFill>
          <a:ln w="12700">
            <a:solidFill>
              <a:srgbClr val="E8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658368" y="347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8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Capture scope and presentation notes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combines verified live screens with code-based documentation for protected or state-dependent flows.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37392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86"/>
                </a:solidFill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1019556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screenshots came from the running Android build using the signed-in Fisherman demonstration account.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did not submit a purchase, change an order status, withdraw money, create a support ticket, or modify marketplace data.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screens are documented from their implemented widgets, services, permission checks, and database migrations because the emulator keyboard blocked a clean account switch during capture.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screens require specific data states, such as another seller’s product, a completed order, an open return, or a pending moderation case.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or mask demonstration contact details before sharing the deck outside the project team.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54480" y="5669280"/>
            <a:ext cx="9144000" cy="987552"/>
          </a:xfrm>
          <a:prstGeom prst="roundRect">
            <a:avLst>
              <a:gd name="adj" fmla="val 7407"/>
            </a:avLst>
          </a:prstGeom>
          <a:solidFill>
            <a:srgbClr val="E8F7F5"/>
          </a:solidFill>
          <a:ln w="12700">
            <a:solidFill>
              <a:srgbClr val="087B8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1719072" y="5788152"/>
            <a:ext cx="8814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B8B"/>
                </a:solidFill>
              </a:rPr>
              <a:t>Recommended next capture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19072" y="6053328"/>
            <a:ext cx="8814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Open the demo admin account and a non-seller buyer account, then append screenshots for admin queues, cart, checkout, payment selection, chat, reviews, and returns.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001000" y="-731520"/>
            <a:ext cx="5120640" cy="3749040"/>
          </a:xfrm>
          <a:prstGeom prst="ellipse">
            <a:avLst/>
          </a:prstGeom>
          <a:solidFill>
            <a:srgbClr val="FF6A16">
              <a:alpha val="92000"/>
            </a:srgbClr>
          </a:solidFill>
          <a:ln w="12700">
            <a:solidFill>
              <a:srgbClr val="FF6A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 rot="12300000">
            <a:off x="-1097280" y="4206240"/>
            <a:ext cx="4937760" cy="3657600"/>
          </a:xfrm>
          <a:prstGeom prst="ellipse">
            <a:avLst/>
          </a:prstGeom>
          <a:solidFill>
            <a:srgbClr val="35D3C2">
              <a:alpha val="70000"/>
            </a:srgbClr>
          </a:solidFill>
          <a:ln w="12700">
            <a:solidFill>
              <a:srgbClr val="35D3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4" name="Image 0" descr="C:\Users\Jivan\Documents\tkoi_shop\assets\images\tko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13232"/>
            <a:ext cx="160020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57400"/>
            <a:ext cx="9692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Tkoi connects fish buyers, sellers, and marketplace operations in one role-aware system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160520" y="4645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FEB"/>
                </a:solidFill>
              </a:rPr>
              <a:t>End of system walkthrough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2699</Words>
  <Application>Microsoft Office PowerPoint</Application>
  <PresentationFormat>Widescreen</PresentationFormat>
  <Paragraphs>345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Tkoi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Tkoi System Walkthrough</dc:title>
  <dc:subject>Tkoi system walkthrough and functional documentation</dc:subject>
  <dc:creator>OpenAI Codex</dc:creator>
  <cp:lastModifiedBy>Jivan Leuterio</cp:lastModifiedBy>
  <cp:revision>2</cp:revision>
  <dcterms:created xsi:type="dcterms:W3CDTF">2026-10-26T06:19:40Z</dcterms:created>
  <dcterms:modified xsi:type="dcterms:W3CDTF">2026-10-26T06:26:02Z</dcterms:modified>
</cp:coreProperties>
</file>